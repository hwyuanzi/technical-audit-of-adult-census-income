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 Mon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Mono-regular.fntdata"/><Relationship Id="rId10" Type="http://schemas.openxmlformats.org/officeDocument/2006/relationships/slide" Target="slides/slide5.xml"/><Relationship Id="rId13" Type="http://schemas.openxmlformats.org/officeDocument/2006/relationships/font" Target="fonts/RobotoMono-italic.fntdata"/><Relationship Id="rId12" Type="http://schemas.openxmlformats.org/officeDocument/2006/relationships/font" Target="fonts/RobotoMon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f46b93d4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f46b93d4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f3099711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f309971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f3099711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f3099711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f3099711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f3099711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f3099711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f3099711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Technical Audit of the Adult Census Income Algorithmic Decision-Support System</a:t>
            </a:r>
            <a:endParaRPr b="1" sz="3300"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3200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Group 32: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Sylvia Zhang, Hollan Yuan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236625" y="139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74EA7"/>
                </a:solidFill>
              </a:rPr>
              <a:t>Background </a:t>
            </a:r>
            <a:endParaRPr b="1" sz="1800">
              <a:solidFill>
                <a:srgbClr val="674EA7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464550" y="1041175"/>
            <a:ext cx="8214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600">
                <a:solidFill>
                  <a:schemeClr val="dk1"/>
                </a:solidFill>
              </a:rPr>
              <a:t>Content</a:t>
            </a:r>
            <a:endParaRPr b="1" sz="5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600">
                <a:solidFill>
                  <a:schemeClr val="dk1"/>
                </a:solidFill>
              </a:rPr>
              <a:t>ADS task: Predict whether an individual's annual income exceeds $50K</a:t>
            </a:r>
            <a:endParaRPr sz="5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600">
                <a:solidFill>
                  <a:schemeClr val="dk1"/>
                </a:solidFill>
              </a:rPr>
              <a:t>Dataset: Adult Census Income dataset (UCI Machine Learning Repository)</a:t>
            </a:r>
            <a:endParaRPr sz="5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600">
                <a:solidFill>
                  <a:schemeClr val="dk1"/>
                </a:solidFill>
              </a:rPr>
              <a:t>Model implementation: Logistic Regression from a Kaggle notebook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600">
                <a:solidFill>
                  <a:schemeClr val="dk1"/>
                </a:solidFill>
              </a:rPr>
              <a:t>Why we selected this ADS</a:t>
            </a:r>
            <a:endParaRPr b="1" sz="5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600">
                <a:solidFill>
                  <a:schemeClr val="dk1"/>
                </a:solidFill>
              </a:rPr>
              <a:t>Real-world ADS may optimize predictive accuracy at the expense of fairness</a:t>
            </a:r>
            <a:endParaRPr sz="5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600">
                <a:solidFill>
                  <a:schemeClr val="dk1"/>
                </a:solidFill>
              </a:rPr>
              <a:t>The selected implementation contains questionable preprocessing decisions and potential ethical blind spots</a:t>
            </a:r>
            <a:endParaRPr sz="5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5600">
                <a:solidFill>
                  <a:schemeClr val="dk1"/>
                </a:solidFill>
              </a:rPr>
              <a:t>This ADS serves as a classical case study for Responsible Data Science auditing and connects directly to many concepts discussed in class.</a:t>
            </a:r>
            <a:endParaRPr sz="5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7625575" y="139950"/>
            <a:ext cx="13755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Group 32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227225" y="107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74EA7"/>
                </a:solidFill>
              </a:rPr>
              <a:t>Input &amp; Output</a:t>
            </a:r>
            <a:endParaRPr b="1" sz="1800">
              <a:solidFill>
                <a:srgbClr val="674EA7"/>
              </a:solidFill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283525" y="679850"/>
            <a:ext cx="4721100" cy="21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dk1"/>
                </a:solidFill>
              </a:rPr>
              <a:t>Input:</a:t>
            </a:r>
            <a:endParaRPr b="1" sz="4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1"/>
                </a:solidFill>
              </a:rPr>
              <a:t>14 socio-demographic and employment variables</a:t>
            </a:r>
            <a:endParaRPr sz="4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1"/>
                </a:solidFill>
              </a:rPr>
              <a:t>Numerical:</a:t>
            </a:r>
            <a:br>
              <a:rPr b="1" lang="en" sz="4800">
                <a:solidFill>
                  <a:schemeClr val="dk1"/>
                </a:solidFill>
              </a:rPr>
            </a:br>
            <a:r>
              <a:rPr lang="en" sz="4800">
                <a:solidFill>
                  <a:schemeClr val="dk1"/>
                </a:solidFill>
              </a:rPr>
              <a:t> Age, fnlwgt, Education-num, Capital-gain, Capital-loss, Hours-per-week</a:t>
            </a:r>
            <a:endParaRPr sz="4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dk1"/>
                </a:solidFill>
              </a:rPr>
              <a:t>Categorical:</a:t>
            </a:r>
            <a:br>
              <a:rPr b="1" lang="en" sz="4800">
                <a:solidFill>
                  <a:schemeClr val="dk1"/>
                </a:solidFill>
              </a:rPr>
            </a:br>
            <a:r>
              <a:rPr lang="en" sz="4800">
                <a:solidFill>
                  <a:schemeClr val="dk1"/>
                </a:solidFill>
              </a:rPr>
              <a:t> Workclass, Education, Marital-status, Occupation, Relationship, Race, Sex, Native-country</a:t>
            </a:r>
            <a:endParaRPr sz="4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69" name="Google Shape;69;p15" title="outpu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4946" y="2319588"/>
            <a:ext cx="3633001" cy="2606437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4950650" y="679850"/>
            <a:ext cx="392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Output: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The final output of this ADS is a binary class label representing an individual's income bracket: either larger than $50K or less than $50K. 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7625575" y="139950"/>
            <a:ext cx="13755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Group 32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4991988" y="1603250"/>
            <a:ext cx="363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As seen in the count plot, the target class is highly imbalanced.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139250" y="2721400"/>
            <a:ext cx="4811400" cy="25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    Key Observations: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Severe class imbalance in several input variables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 (Race ≈ 85% White, Sex ≈ 67% Male, Native-country ≈ 90% U.S.)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Some categorical features (workclass, occupation, native-country) contain missing values encoded as </a:t>
            </a: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"?"</a:t>
            </a:r>
            <a:r>
              <a:rPr lang="en" sz="1200">
                <a:solidFill>
                  <a:schemeClr val="dk1"/>
                </a:solidFill>
              </a:rPr>
              <a:t>;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 numerical features have no missing values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The original implementation imputes missing values using the mode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208475" y="144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74EA7"/>
                </a:solidFill>
                <a:highlight>
                  <a:srgbClr val="FFFFFF"/>
                </a:highlight>
              </a:rPr>
              <a:t>Preliminary Exploration</a:t>
            </a:r>
            <a:endParaRPr b="1" sz="1800">
              <a:solidFill>
                <a:srgbClr val="674EA7"/>
              </a:solidFill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311725" y="2661850"/>
            <a:ext cx="378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2) Performance on subpopulation (Sex)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208475" y="625100"/>
            <a:ext cx="540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arenR"/>
            </a:pPr>
            <a:r>
              <a:rPr b="1" lang="en">
                <a:solidFill>
                  <a:schemeClr val="dk1"/>
                </a:solidFill>
              </a:rPr>
              <a:t>Overall performance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7625575" y="139950"/>
            <a:ext cx="13755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Group 32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311725" y="3062050"/>
            <a:ext cx="3787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Women: accuracy 92%              Men: accuracy 82%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550" y="3416438"/>
            <a:ext cx="1375500" cy="458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65200" y="3416450"/>
            <a:ext cx="1375500" cy="46236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/>
          <p:nvPr/>
        </p:nvSpPr>
        <p:spPr>
          <a:xfrm>
            <a:off x="402300" y="978373"/>
            <a:ext cx="41697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Overall accuracy:85%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The reveals a critical issue: the number of False Negatives (FN = 664) is substantially higher than the number of False Positives (FP = 321). This discrepancy suggests that the model is actively biasing its predictions towards the majority class (less than $50K) to artificially inflate its overall accuracy.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76825" y="3973800"/>
            <a:ext cx="42576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This indicates that the model does not perform equally across demographic groups, even though the overall accuracy appears acceptable.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7" name="Google Shape;87;p16" title="se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41250" y="3173650"/>
            <a:ext cx="2384925" cy="174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 title="agehour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72250" y="515675"/>
            <a:ext cx="3435201" cy="241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82500" y="3062050"/>
            <a:ext cx="2581530" cy="180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189675" y="125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674EA7"/>
                </a:solidFill>
                <a:highlight>
                  <a:srgbClr val="FFFFFF"/>
                </a:highlight>
              </a:rPr>
              <a:t>Detailed Analysis Plan</a:t>
            </a:r>
            <a:endParaRPr b="1" sz="3500">
              <a:solidFill>
                <a:srgbClr val="674EA7"/>
              </a:solidFill>
            </a:endParaRPr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693375" y="1107550"/>
            <a:ext cx="7513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Subpopulation analysis:</a:t>
            </a:r>
            <a:r>
              <a:rPr lang="en" sz="1400">
                <a:solidFill>
                  <a:schemeClr val="dk1"/>
                </a:solidFill>
              </a:rPr>
              <a:t> Accuracy and error rates across demographic groups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Fairness metrics: </a:t>
            </a:r>
            <a:r>
              <a:rPr lang="en" sz="1400">
                <a:solidFill>
                  <a:schemeClr val="dk1"/>
                </a:solidFill>
              </a:rPr>
              <a:t>Statistical Parity, Equal Opportunity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Intersectional fairness: </a:t>
            </a:r>
            <a:r>
              <a:rPr lang="en" sz="1400">
                <a:solidFill>
                  <a:schemeClr val="dk1"/>
                </a:solidFill>
              </a:rPr>
              <a:t>Analyze combined subgroups (e.g., race × gender)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Proxy discrimination analysis: </a:t>
            </a:r>
            <a:r>
              <a:rPr lang="en" sz="1400">
                <a:solidFill>
                  <a:schemeClr val="dk1"/>
                </a:solidFill>
              </a:rPr>
              <a:t>Identify whether features such as education or occupation act as proxies for race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Data preprocessing audit: </a:t>
            </a:r>
            <a:r>
              <a:rPr lang="en" sz="1400">
                <a:solidFill>
                  <a:schemeClr val="dk1"/>
                </a:solidFill>
              </a:rPr>
              <a:t>Evaluate bias introduced by: </a:t>
            </a:r>
            <a:endParaRPr sz="1400">
              <a:solidFill>
                <a:schemeClr val="dk1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romanLcPeriod"/>
            </a:pPr>
            <a:r>
              <a:rPr lang="en" sz="1400">
                <a:solidFill>
                  <a:schemeClr val="dk1"/>
                </a:solidFill>
              </a:rPr>
              <a:t>     Mode imputation of missing values </a:t>
            </a:r>
            <a:endParaRPr sz="1400">
              <a:solidFill>
                <a:schemeClr val="dk1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romanLcPeriod"/>
            </a:pPr>
            <a:r>
              <a:rPr lang="en" sz="1400">
                <a:solidFill>
                  <a:schemeClr val="dk1"/>
                </a:solidFill>
              </a:rPr>
              <a:t>     Removal of extreme age values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Model interpretability: </a:t>
            </a:r>
            <a:r>
              <a:rPr lang="en" sz="1400">
                <a:solidFill>
                  <a:schemeClr val="dk1"/>
                </a:solidFill>
              </a:rPr>
              <a:t>Analyze logistic regression coefficients to understand influential features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6" name="Google Shape;96;p17"/>
          <p:cNvSpPr txBox="1"/>
          <p:nvPr/>
        </p:nvSpPr>
        <p:spPr>
          <a:xfrm>
            <a:off x="7625575" y="139950"/>
            <a:ext cx="13755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Group 32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